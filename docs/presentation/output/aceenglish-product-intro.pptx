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7f6f6bd8a4a8f" /><Relationship Type="http://schemas.openxmlformats.org/officeDocument/2006/relationships/extended-properties" Target="/docProps/app.xml" Id="R3674a35b67b94a45" /><Relationship Type="http://schemas.openxmlformats.org/officeDocument/2006/relationships/officeDocument" Target="/ppt/presentation.xml" Id="R73398fbf0ca9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adf69168f4bca"/>
  </p:sldMasterIdLst>
  <p:notesMasterIdLst>
    <p:notesMasterId xmlns:r="http://schemas.openxmlformats.org/officeDocument/2006/relationships" r:id="R49e42c34117f433e"/>
  </p:notesMasterIdLst>
  <p:sldIdLst>
    <p:sldId xmlns:r="http://schemas.openxmlformats.org/officeDocument/2006/relationships" id="256" r:id="Reb18acf86dda4d6f"/>
    <p:sldId xmlns:r="http://schemas.openxmlformats.org/officeDocument/2006/relationships" id="257" r:id="Rb332c3426cc04307"/>
    <p:sldId xmlns:r="http://schemas.openxmlformats.org/officeDocument/2006/relationships" id="258" r:id="R4865377863dc47c4"/>
    <p:sldId xmlns:r="http://schemas.openxmlformats.org/officeDocument/2006/relationships" id="259" r:id="R05225fe076944266"/>
    <p:sldId xmlns:r="http://schemas.openxmlformats.org/officeDocument/2006/relationships" id="260" r:id="R59b84d731cd74f4c"/>
    <p:sldId xmlns:r="http://schemas.openxmlformats.org/officeDocument/2006/relationships" id="261" r:id="R12b8d577eecd4654"/>
    <p:sldId xmlns:r="http://schemas.openxmlformats.org/officeDocument/2006/relationships" id="262" r:id="Ra608add5b56a417b"/>
    <p:sldId xmlns:r="http://schemas.openxmlformats.org/officeDocument/2006/relationships" id="263" r:id="R25df8c2fd1a84e75"/>
    <p:sldId xmlns:r="http://schemas.openxmlformats.org/officeDocument/2006/relationships" id="264" r:id="Rab338b59902346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adf69168f4bca" /><Relationship Type="http://schemas.openxmlformats.org/officeDocument/2006/relationships/theme" Target="/ppt/theme/theme1.xml" Id="R9c80e5ec6ac044c4" /><Relationship Type="http://schemas.openxmlformats.org/officeDocument/2006/relationships/notesMaster" Target="/ppt/notesMasters/notesMaster1.xml" Id="R49e42c34117f433e" /><Relationship Type="http://schemas.openxmlformats.org/officeDocument/2006/relationships/presProps" Target="/ppt/presProps.xml" Id="Rd12371ed2ade4aa4" /><Relationship Type="http://schemas.openxmlformats.org/officeDocument/2006/relationships/viewProps" Target="/ppt/viewProps.xml" Id="R83b2677625194a1d" /><Relationship Type="http://schemas.openxmlformats.org/officeDocument/2006/relationships/tableStyles" Target="/ppt/tableStyles.xml" Id="R87dea6907ff040a4" /><Relationship Type="http://schemas.openxmlformats.org/officeDocument/2006/relationships/slide" Target="/ppt/slides/slide1.xml" Id="Reb18acf86dda4d6f" /><Relationship Type="http://schemas.openxmlformats.org/officeDocument/2006/relationships/slide" Target="/ppt/slides/slide2.xml" Id="Rb332c3426cc04307" /><Relationship Type="http://schemas.openxmlformats.org/officeDocument/2006/relationships/slide" Target="/ppt/slides/slide3.xml" Id="R4865377863dc47c4" /><Relationship Type="http://schemas.openxmlformats.org/officeDocument/2006/relationships/slide" Target="/ppt/slides/slide4.xml" Id="R05225fe076944266" /><Relationship Type="http://schemas.openxmlformats.org/officeDocument/2006/relationships/slide" Target="/ppt/slides/slide5.xml" Id="R59b84d731cd74f4c" /><Relationship Type="http://schemas.openxmlformats.org/officeDocument/2006/relationships/slide" Target="/ppt/slides/slide6.xml" Id="R12b8d577eecd4654" /><Relationship Type="http://schemas.openxmlformats.org/officeDocument/2006/relationships/slide" Target="/ppt/slides/slide7.xml" Id="Ra608add5b56a417b" /><Relationship Type="http://schemas.openxmlformats.org/officeDocument/2006/relationships/slide" Target="/ppt/slides/slide8.xml" Id="R25df8c2fd1a84e75" /><Relationship Type="http://schemas.openxmlformats.org/officeDocument/2006/relationships/slide" Target="/ppt/slides/slide9.xml" Id="Rab338b599023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dfc57f6d1b4f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c4011536f4237" /><Relationship Type="http://schemas.openxmlformats.org/officeDocument/2006/relationships/notesMaster" Target="/ppt/notesMasters/notesMaster1.xml" Id="Rf84440342d8b4a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ace398ee74114" /><Relationship Type="http://schemas.openxmlformats.org/officeDocument/2006/relationships/notesMaster" Target="/ppt/notesMasters/notesMaster1.xml" Id="Red11a33de10b43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0fd203f744971" /><Relationship Type="http://schemas.openxmlformats.org/officeDocument/2006/relationships/notesMaster" Target="/ppt/notesMasters/notesMaster1.xml" Id="R491ce5f4bcc84c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43494ce50a4f17" /><Relationship Type="http://schemas.openxmlformats.org/officeDocument/2006/relationships/notesMaster" Target="/ppt/notesMasters/notesMaster1.xml" Id="R3691fd0176a7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9992f838ee4571" /><Relationship Type="http://schemas.openxmlformats.org/officeDocument/2006/relationships/notesMaster" Target="/ppt/notesMasters/notesMaster1.xml" Id="Re99a628c717648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0787c61c7748c8" /><Relationship Type="http://schemas.openxmlformats.org/officeDocument/2006/relationships/notesMaster" Target="/ppt/notesMasters/notesMaster1.xml" Id="R92e7a7ee73ff4c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d5126937344b1" /><Relationship Type="http://schemas.openxmlformats.org/officeDocument/2006/relationships/notesMaster" Target="/ppt/notesMasters/notesMaster1.xml" Id="R6f43d0587e7f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5bab67929f45b4" /><Relationship Type="http://schemas.openxmlformats.org/officeDocument/2006/relationships/notesMaster" Target="/ppt/notesMasters/notesMaster1.xml" Id="R1129ea43cfb842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8f35de64af4071" /><Relationship Type="http://schemas.openxmlformats.org/officeDocument/2006/relationships/notesMaster" Target="/ppt/notesMasters/notesMaster1.xml" Id="R7107df4ccbd147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开场强调：AceEnglish 是一个可用的学习应用，AI 是藏在学习流程里的助教能力。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这一页面向普通人解释产品功能，不谈工程细节。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截图展示首页。重点讲“不是一堆按钮”，而是学习编排。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普通人容易把 AI 应用理解成聊天。这里强调：AI 依附在教材和任务上。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 AI 外教，不要讲模型参数，讲学生能感受到什么。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这一页用普通人能懂的比喻：四个助教分工合作。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教师端是这个产品区别于普通学习 APP 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 AI 落地讲清楚：不是模型炫技，而是流程重构。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结尾回到普通人价值：学生、老师、学校各自得到什么。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71ef5054b4ab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11f77389cc49a1" /><Relationship Type="http://schemas.openxmlformats.org/officeDocument/2006/relationships/slideLayout" Target="/ppt/slideLayouts/slideLayout2.xml" Id="R118d1ee19212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d1ee19212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3b67cdaec4384" /><Relationship Type="http://schemas.openxmlformats.org/officeDocument/2006/relationships/image" Target="/ppt/media/image.png" Id="R3fd8589036cf47fd" /><Relationship Type="http://schemas.openxmlformats.org/officeDocument/2006/relationships/notesSlide" Target="/ppt/notesSlides/notesSlide1.xml" Id="R64378680fc98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8f787569f044ce" /><Relationship Type="http://schemas.openxmlformats.org/officeDocument/2006/relationships/notesSlide" Target="/ppt/notesSlides/notesSlide2.xml" Id="Rd0275d8b06684e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57e6c2d134cf8" /><Relationship Type="http://schemas.openxmlformats.org/officeDocument/2006/relationships/image" Target="/ppt/media/image2.png" Id="Rcc0f8662fc3f47be" /><Relationship Type="http://schemas.openxmlformats.org/officeDocument/2006/relationships/notesSlide" Target="/ppt/notesSlides/notesSlide3.xml" Id="Rc0ad94696ef5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da36af18947e4" /><Relationship Type="http://schemas.openxmlformats.org/officeDocument/2006/relationships/image" Target="/ppt/media/image3.png" Id="Rb7e8169f6d364b07" /><Relationship Type="http://schemas.openxmlformats.org/officeDocument/2006/relationships/notesSlide" Target="/ppt/notesSlides/notesSlide4.xml" Id="R0e7271e5b686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c7a620c154ab4" /><Relationship Type="http://schemas.openxmlformats.org/officeDocument/2006/relationships/image" Target="/ppt/media/image4.png" Id="R5c7ec3d331144d09" /><Relationship Type="http://schemas.openxmlformats.org/officeDocument/2006/relationships/notesSlide" Target="/ppt/notesSlides/notesSlide5.xml" Id="Rf84b13e24d4f4b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42275b6e64dc9" /><Relationship Type="http://schemas.openxmlformats.org/officeDocument/2006/relationships/notesSlide" Target="/ppt/notesSlides/notesSlide6.xml" Id="Rbcd611a218b446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dce5f60f84f5a" /><Relationship Type="http://schemas.openxmlformats.org/officeDocument/2006/relationships/image" Target="/ppt/media/image5.png" Id="Re5d1a577343349c4" /><Relationship Type="http://schemas.openxmlformats.org/officeDocument/2006/relationships/notesSlide" Target="/ppt/notesSlides/notesSlide7.xml" Id="R951b0f8bef1b48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f518c5b4ed4df9" /><Relationship Type="http://schemas.openxmlformats.org/officeDocument/2006/relationships/notesSlide" Target="/ppt/notesSlides/notesSlide8.xml" Id="Rf6aac96d51234a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5e130821b47c7" /><Relationship Type="http://schemas.openxmlformats.org/officeDocument/2006/relationships/notesSlide" Target="/ppt/notesSlides/notesSlide9.xml" Id="R47b8b8a4f30c49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23B70-56BF-4A8D-BF2B-F1AF034C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40783-77C0-4F9A-99C8-FAA9B36A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FA3B9-19F7-4A80-BD4F-4A229E4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F68FC-90B4-4F6C-94A4-195C6DA5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37449-2828-4C3F-9E0F-A3F36DE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04850"/>
            <a:ext cx="4953000" cy="54483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8589036cf47fd"/>
          <a:srcRect xmlns:a="http://schemas.openxmlformats.org/drawingml/2006/main" l="18508" t="0" r="18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971550"/>
            <a:ext cx="4457700" cy="4914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1B038-A5C1-4B49-BC9E-50F62FF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71550"/>
            <a:ext cx="44577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5E1E5-13E4-4D39-A287-19CA9E5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257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C9A32-68CA-4B2C-AA62-7F097FEF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AI ENGLISH LEARNING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0C58E-E08A-4E4B-B70B-10C53629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4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AceEnglish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4CF66-A958-4B34-A1FE-A4AFF8DD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把教材学习、口语练习、发音评测和教师洞察放进一个 AI 学习闭环。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86ED7-30C3-4026-B037-CC3B8CF2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D1F86-129C-4976-AF2C-1230537D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67279-8C56-47FE-835D-53A5BE78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一句话理解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5E681-169F-4EC7-99FE-B739547B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41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它不是一个聊天框，而是一套会安排任务、陪练、评测和提醒老师的英语学习助教。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6D09F-010F-4EC3-A84C-75253BF7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2F6BFF"/>
                </a:solidFill>
                <a:latin typeface="Lato"/>
                <a:ea typeface="Lato"/>
                <a:cs typeface="Lato"/>
              </a:rPr>
              <a:t>面向学生、老师和教学管理者的 AI 落地实践</a:t>
            </a:r>
          </a:p>
        </p:txBody>
      </p:sp>
    </p:spTree>
    <p:extLst>
      <p:ext uri="{BB962C8B-B14F-4D97-AF65-F5344CB8AC3E}">
        <p14:creationId xmlns:p14="http://schemas.microsoft.com/office/powerpoint/2010/main" val="17029230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C5BEE-A2AA-4A1F-85C8-BFB05B4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8ACA6-9392-42D8-B984-64F37949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CEDE2-8B88-4C35-818D-0A3BBE20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3D702-1E41-47B7-80DF-B2E1CF4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F17A8-D812-4EF2-A26F-B65FE48B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FF6F6-0750-417B-B67F-CCC0F3B6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C7BFB-8C03-448C-A732-1748D3C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C39BF-6958-4DAA-9C85-0F3C5126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它帮学生把英语学习变成每天可执行的路径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ABD44-8B10-44E6-8359-E46CFE97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普通用户可以这样理解：不用自己决定先学什么，系统会按教材、错题和练习结果推荐下一步。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E0B46-D6CA-40EF-AC5C-8A06C23D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7F5B1-DE41-48E6-9820-07700DD6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D468E-B484-4914-A818-7D4C5AE3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教材同步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83761-F2E6-4E9E-A35F-916C89B2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按外研版教材单元组织词汇、重点句、语法、听写和朗读评测。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99F5E-0E46-49F1-9595-81AC855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D5ABE-ADA3-4C5F-A0EA-5D1D4F1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E9FDF-D624-47E9-9CE4-58C0BF1C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AI 口语陪练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2558F-29AD-4C88-9539-5BFC3816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围绕当前单元话题提问、追问、纠错，让学生真的开口表达。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7C5A9-E10C-4386-BAA8-373222E5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33B36-2A2C-4602-A155-801C8C2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9BC2B-BD04-42D8-AE2C-0D42EC9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教师看得见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7F71E-92F1-4CBF-8CD5-C6AC78A3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管理页能看到班级趋势、学生风险信号和教师干预建议。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662D9-C301-4E15-9845-95FE2982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23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52238"/>
                </a:solidFill>
                <a:latin typeface="Lato"/>
                <a:ea typeface="Lato"/>
                <a:cs typeface="Lato"/>
              </a:rPr>
              <a:t>学习路线：输入教材内容 -&gt; 完成练习 -&gt; AI 反馈 -&gt; 生成下一步任务 -&gt; 教师获得洞察</a:t>
            </a:r>
          </a:p>
        </p:txBody>
      </p:sp>
    </p:spTree>
    <p:extLst>
      <p:ext uri="{BB962C8B-B14F-4D97-AF65-F5344CB8AC3E}">
        <p14:creationId xmlns:p14="http://schemas.microsoft.com/office/powerpoint/2010/main" val="679509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8C6F5-C65A-4CF3-8392-292009EF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F9284-8915-482F-A6D4-176A2775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F54B7-FBF2-4B7E-BF3A-EED456D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85D4A-06AE-4BF1-8C2C-B5114B0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5AFDC-EF2F-4249-9F9A-A344A72F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561B3-F732-4CF2-8B0D-CEE6FAF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F5C90-96A6-4A3A-81C6-ED666FE6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STUDENT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9B54B-D4B2-4749-91AE-12D97073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首页是每天的学习指挥台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20EE6-10B5-436A-BF3F-93AA2C83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这里能看到今日任务、当前单元、多 Agent 协同状态和下一步推荐。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f8662fc3f47be"/>
          <a:srcRect xmlns:a="http://schemas.openxmlformats.org/drawingml/2006/main" l="15468" t="0" r="154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742950"/>
            <a:ext cx="5191125" cy="52197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8C042-9C03-476C-AA8B-3CFF4465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6E869-AB88-4912-9B92-A10A6FF4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4A20F-A577-4EFB-A7DD-A0135755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学习编排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ACD2F-56EF-46F1-806E-86ED07D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读取进度、错题、发音记录，决定今天先做什么。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2DB8D-A457-4990-A741-499FA5D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DE972-2E4E-4720-9FAA-F7142FB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430B2-5C98-4D91-B318-ED6A9EA7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评测反馈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F6E35-FD0A-4603-BBFF-7C6F4F45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291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把听写和口语结果转成复习包，回流给下一轮推荐。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FEFFE-546E-410E-A21F-BF54F25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学生看到的是任务，背后运转的是一组协同工作的 AI 助教。</a:t>
            </a:r>
          </a:p>
        </p:txBody>
      </p:sp>
    </p:spTree>
    <p:extLst>
      <p:ext uri="{BB962C8B-B14F-4D97-AF65-F5344CB8AC3E}">
        <p14:creationId xmlns:p14="http://schemas.microsoft.com/office/powerpoint/2010/main" val="773804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6079AF-2E20-45B7-9B1B-B002EAA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B2C53-BD78-4062-81B4-8C02ECC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3142B-F06D-4143-9EE5-0600FA5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9E31C-6902-4812-B121-3FDDB18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711F1-8B80-400F-A161-858082AC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F057B-2C04-4A0D-BEC5-81D6637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943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64C85-CEB5-4111-87AB-B3F11FE6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TEXTBOOK 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E044F-8A72-47FD-A496-B8D8ABA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围绕真实教材，不是泛泛聊天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9D6C9-71FC-47BD-AC5A-07400CF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学生从单元内容出发，完成词汇、重点句、听写、语法和朗读评测。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8169f6d364b07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43250"/>
            <a:ext cx="5143500" cy="2857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02AF6-081E-4B67-B8F2-C38699A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CBC7A-C146-460C-A303-FFDA149B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3B367-074A-42FF-9548-C134AD9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词汇预习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B2374-2D89-4FAD-94F3-CF19064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先认词义、发音和例句，为后续听说做输入准备。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39EA3-421A-43F0-B61E-C0B0FC9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813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733FF-F0B2-4461-9DB0-BEAD1C3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813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D9AF0-5336-4B04-86A8-226787BB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重点句跟读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CD79C-9D81-4173-84CB-CDB683B6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719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用教材句子做跟读和朗读，建立真实表达素材。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BAC00-D44A-4456-BB7B-13781BF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06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9A596-04F1-4569-BEEB-650460D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5DD62-204A-4BE9-BF40-5EF0295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听写与语法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19413-56FA-45FA-BDD0-C9394BA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768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通过听写和语法练习找出漏词、拼写、句型问题。</a:t>
            </a:r>
          </a:p>
        </p:txBody>
      </p:sp>
    </p:spTree>
    <p:extLst>
      <p:ext uri="{BB962C8B-B14F-4D97-AF65-F5344CB8AC3E}">
        <p14:creationId xmlns:p14="http://schemas.microsoft.com/office/powerpoint/2010/main" val="8660961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A8119-27E8-4019-BB79-D3C006F9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851A7-8A81-4B95-941F-000592C8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E7A8F-BD28-4E67-96FF-BDC44D03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22728-E7E1-4DC1-8D7E-6798998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9EE48-2C6C-4115-A4D6-915EC93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5500E-BFC3-4AC9-98E3-BFDCC3DE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42BB6-5E6A-4FBF-A322-F079ADEF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AI SPEAKING TUTOR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02E5C-525C-4449-BB04-68C7BAF5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AI 外教让学生真的开口练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BAD3D-BD77-4378-A050-23607B0B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它会根据当前单元下发口语目标，并支持语音识别、TTS 播报和 Azure 发音评测。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ec3d331144d09"/>
          <a:srcRect xmlns:a="http://schemas.openxmlformats.org/drawingml/2006/main" l="18078" t="0" r="18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914400"/>
            <a:ext cx="4343400" cy="47244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16680-5AB7-4EDF-9368-FEF478B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000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AAAD7-6B83-4A83-9B8F-55225FF9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1398E-BAFE-4501-8A6F-E4424E33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目标导向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0C94C-FADB-4F22-ACBB-ADE0162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对练目标来自学习编排 Agent，而不是随便聊天。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675C7-A818-4D47-9E37-0BB36432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000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1D1F2-A1CA-41AF-84CF-D782CF2F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9AD1A-DD91-475E-BEAA-0EA693F3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即时反馈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EA0DE-2AAE-490F-B8DC-2AD679B5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回答太短、偏题、表达不流畅时，会进入错题和复盘链路。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E4F3D-C45E-424C-9971-BE18F435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2F6BFF"/>
                </a:solidFill>
                <a:latin typeface="Lato"/>
                <a:ea typeface="Lato"/>
                <a:cs typeface="Lato"/>
              </a:rPr>
              <a:t>这就是 AI 在学习场景里的正确位置：陪练、纠错、推动下一步。</a:t>
            </a:r>
          </a:p>
        </p:txBody>
      </p:sp>
    </p:spTree>
    <p:extLst>
      <p:ext uri="{BB962C8B-B14F-4D97-AF65-F5344CB8AC3E}">
        <p14:creationId xmlns:p14="http://schemas.microsoft.com/office/powerpoint/2010/main" val="2575240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E9935-060B-45D7-B9FE-A21DF8EC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44186-B758-46A1-93A2-B9CD2A89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A7CD3-87FD-4AB7-A68B-9BAAED35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89044-FD5A-493C-959C-B3A82C60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DF5E8-0B32-4454-8990-1373E49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FE10E-BFE7-46C7-BA1C-52A83FFC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1595A-D0B4-4DC7-9A09-043D6EE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AI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3BAE8-CB57-46BC-B9ED-B0F9D56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四个 Agent 像一个小教学团队一样配合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445A7-3865-4CCB-8799-28B41CF3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每个 Agent 只负责一件事：安排、陪练、评测、提醒老师。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86918-F7CC-4E5A-9F2E-EBCA44C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17D0E-94DE-479A-A9B2-290E7FFF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DAA76-F780-463C-A85A-580B242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13728-E126-49C8-A844-9B0049D1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52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学习编排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3F0FF-17E2-4CCA-9C66-210F9B4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76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决定下一步任务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CAA19-2231-48C8-A550-EBE80F6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8145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C37D8-F39E-4127-AE7E-7EFC265B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2425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8EAD1-1E94-4BED-8F08-6AAD946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6B885-BA3F-4D91-9DEA-53054BFA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口语陪练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D42D2-BFC5-4573-8893-A2CE287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执行对话训练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2B1E7-B904-46B6-A4FA-8C580214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AE2FD-75CD-4EE5-8B0D-38603D7C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2356D-CD36-4930-89A6-90681539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3AE07-7956-48B3-B58E-9344F6E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评测反馈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B63F6-6915-4107-BF8F-73E1F73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归因错误和弱项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1599E-9B70-43AE-9EDC-CBF078AD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96C97-E9BA-4CFB-9922-7362E25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1C67D-A48E-475B-9DE2-517BDCA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52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教师洞察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23A4C4-C666-49FD-91F3-A7A3A00C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76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生成干预建议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DFAE22-DC33-4A80-A7B5-AAE7EF36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7405F-28C1-4005-A1C1-A628F13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3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E51E2-5AC9-46DF-8F99-189720CD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48300"/>
            <a:ext cx="727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为什么要多个 Agent？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BDD81-5E6D-4AC2-89D1-DDF9F38A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10250"/>
            <a:ext cx="727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单一聊天助手只会回答问题；多个 Agent 可以把学习状态、练习结果和教师建议串成连续闭环。</a:t>
            </a:r>
          </a:p>
        </p:txBody>
      </p:sp>
    </p:spTree>
    <p:extLst>
      <p:ext uri="{BB962C8B-B14F-4D97-AF65-F5344CB8AC3E}">
        <p14:creationId xmlns:p14="http://schemas.microsoft.com/office/powerpoint/2010/main" val="565420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14DFF-F5D9-4D7B-954B-527862B3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F4A77-D0AE-41DB-A1A1-6D990762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36BF4-6181-4403-89A5-F398A985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ABA39-6974-42C1-878D-35A6AA4F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FD2EC-2862-4D45-9248-1D6A9F8C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0623A-2C5F-4097-A7F9-D32F353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41E67-F090-4D2E-B52B-A761D737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TEACHER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7FC63-ED7A-4F47-8D24-854EBF90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老师看到的不只是数据，而是建议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FFD6F-5D4E-4551-99FB-F5E0632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教师洞察 Agent 会把学生侧的学习信号汇总成风险等级、触发原因和干预动作。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1a577343349c4"/>
          <a:srcRect xmlns:a="http://schemas.openxmlformats.org/drawingml/2006/main" l="0" t="10880" r="0" b="10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952750"/>
            <a:ext cx="5715000" cy="310515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67FB9-6A1E-4C7C-9725-365D832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5C295-7378-47A3-A397-9C56785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EE2C8-3986-4654-8E84-722029F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班级视角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3FC7-D6E6-4F2C-85D2-694CB972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看学习趋势、活跃情况、准备度和风险学生。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7E0B4-A19B-45C9-B9EC-059A862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796F8-223C-453B-B623-FE0732D3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AC87F-FC52-459C-97D9-F30435A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干预建议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00E31-E0B2-429F-851E-0E64A5CA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告诉老师应该先处理错题、发音还是学习进度。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AF91D-BAED-448D-BF4F-64312AD2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197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5F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6B5F"/>
                </a:solidFill>
                <a:latin typeface="Lato"/>
                <a:ea typeface="Lato"/>
                <a:cs typeface="Lato"/>
              </a:rPr>
              <a:t>这让 AI 从“学生工具”变成“教学管理助手”。</a:t>
            </a:r>
          </a:p>
        </p:txBody>
      </p:sp>
    </p:spTree>
    <p:extLst>
      <p:ext uri="{BB962C8B-B14F-4D97-AF65-F5344CB8AC3E}">
        <p14:creationId xmlns:p14="http://schemas.microsoft.com/office/powerpoint/2010/main" val="5949855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8ED73-0DA0-438B-A207-41779592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2417C-09E0-490A-B1D7-2D6BFCBB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CF5D4-626A-4258-B80D-E24FEA8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C22F8-C348-43CB-98B3-3C18B6EC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0A09D-764F-4696-8BB5-C53F87FC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ACEENGLISH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F13AD-AB6E-49E5-A766-1A7D223E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A353C-BD3F-4501-AE21-DDA496B8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PRACTICAL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5BBBF-44D0-41BE-BD5E-F2DF659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这里的 AI 落地，不是把聊天框塞进页面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E87AC-4EB9-4EBA-BCAC-7889B4A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AI 能力被放进教学流程：有上下文、有任务、有反馈，也有下一步。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74625-89D7-4913-A14E-C67C20DF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895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90289-A049-403F-90C9-14E754C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1B70C-1BF4-497F-B354-BBAAEB66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86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数据层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423B7-C221-43D1-A873-C3B48894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教材、单元、错题、发音分、练习记录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BECEB-B84C-4125-A653-AE29D5F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895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1585D-1743-4E07-9379-6D5A54B6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BB1D2-AC16-4E97-BB61-BE1EA9AA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工具层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5095E-966E-49D7-A70D-0B4BDC43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434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AI 对话、语音识别、TTS、Azure 发音评测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AF2D3-68BE-4470-97BA-99991B1A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895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A7E4A-A797-4339-A0E3-E631F8F4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21EBA-16E3-4254-9441-C764293E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11827"/>
                </a:solidFill>
                <a:latin typeface="Poppins"/>
                <a:ea typeface="Poppins"/>
                <a:cs typeface="Poppins"/>
              </a:rPr>
              <a:t>Agent 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DDE76-050B-4313-849D-95B0DBA5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816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编排、陪练、评测、教师洞察协同工作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62817-1DDB-4E2F-BE03-662ECCF6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11827"/>
                </a:solidFill>
                <a:latin typeface="Lato"/>
                <a:ea typeface="Lato"/>
                <a:cs typeface="Lato"/>
              </a:rPr>
              <a:t>普通用户感受到的是“它知道我该练什么”；产品背后是 AI 与 agent 对学习流程的重新组织。</a:t>
            </a:r>
          </a:p>
        </p:txBody>
      </p:sp>
    </p:spTree>
    <p:extLst>
      <p:ext uri="{BB962C8B-B14F-4D97-AF65-F5344CB8AC3E}">
        <p14:creationId xmlns:p14="http://schemas.microsoft.com/office/powerpoint/2010/main" val="9826652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FB773F-4C57-4013-933A-F3F8A9B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AE6DC-1C39-48F8-9674-64C45B99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3400-4F9C-4C95-BA81-A7FABD0C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2C1ED-E549-474D-9B8A-294DDE25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0206A-09C7-48F6-8EFA-AA047A5C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37E14-C043-49C6-808F-0150AD50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AceEnglish 让英语学习更像有一个小团队陪着走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83137-081A-419F-B7C9-468B63A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47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E9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7DEE9"/>
                </a:solidFill>
                <a:latin typeface="Lato"/>
                <a:ea typeface="Lato"/>
                <a:cs typeface="Lato"/>
              </a:rPr>
              <a:t>学生得到路径和反馈，老师得到洞察和建议，AI agent 在中间负责协调。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0D41C-6788-41D1-9B76-E0D46C6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2391B-DC90-4347-A1FB-EC5463B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学生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62740-6AE4-4396-8797-721CF1BE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EE9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D7DEE9"/>
                </a:solidFill>
                <a:latin typeface="Lato"/>
                <a:ea typeface="Lato"/>
                <a:cs typeface="Lato"/>
              </a:rPr>
              <a:t>少走弯路，知道下一步练什么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99690-521E-4F09-862A-AEBCDCD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767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EB879-BAEF-4E30-9695-24F5422D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老师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EF161-52F1-426D-83B4-EBFA65FB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67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EE9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D7DEE9"/>
                </a:solidFill>
                <a:latin typeface="Lato"/>
                <a:ea typeface="Lato"/>
                <a:cs typeface="Lato"/>
              </a:rPr>
              <a:t>少看散乱数据，多看行动建议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64036-3CAA-4406-989F-D0B2F918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767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6AFD8-6F92-4A37-970D-8AF79051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学校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324CD-7358-4588-B8BF-425063E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EE9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D7DEE9"/>
                </a:solidFill>
                <a:latin typeface="Lato"/>
                <a:ea typeface="Lato"/>
                <a:cs typeface="Lato"/>
              </a:rPr>
              <a:t>有一套可演示、可扩展的 AI 教学样板</a:t>
            </a:r>
          </a:p>
        </p:txBody>
      </p:sp>
    </p:spTree>
    <p:extLst>
      <p:ext uri="{BB962C8B-B14F-4D97-AF65-F5344CB8AC3E}">
        <p14:creationId xmlns:p14="http://schemas.microsoft.com/office/powerpoint/2010/main" val="305640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2026-05-15T05:54:06.6980000Z</dcterms:created>
  <dcterms:modified xsi:type="dcterms:W3CDTF">2026-05-15T05:54:06.6980000Z</dcterms:modified>
</coreProperties>
</file>