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91656ac594a7b" /><Relationship Type="http://schemas.openxmlformats.org/officeDocument/2006/relationships/extended-properties" Target="/docProps/app.xml" Id="Re2f9f048ffda4f24" /><Relationship Type="http://schemas.openxmlformats.org/officeDocument/2006/relationships/officeDocument" Target="/ppt/presentation.xml" Id="R07f1f23498be4a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0a05059bb44c8d"/>
  </p:sldMasterIdLst>
  <p:notesMasterIdLst>
    <p:notesMasterId xmlns:r="http://schemas.openxmlformats.org/officeDocument/2006/relationships" r:id="Rfea782905081444d"/>
  </p:notesMasterIdLst>
  <p:sldIdLst>
    <p:sldId xmlns:r="http://schemas.openxmlformats.org/officeDocument/2006/relationships" id="256" r:id="Re93a921709f34d1c"/>
    <p:sldId xmlns:r="http://schemas.openxmlformats.org/officeDocument/2006/relationships" id="257" r:id="R985a86198a6d407e"/>
    <p:sldId xmlns:r="http://schemas.openxmlformats.org/officeDocument/2006/relationships" id="258" r:id="R3e003da9b9524ce9"/>
    <p:sldId xmlns:r="http://schemas.openxmlformats.org/officeDocument/2006/relationships" id="259" r:id="Rcc931dac18dc4846"/>
    <p:sldId xmlns:r="http://schemas.openxmlformats.org/officeDocument/2006/relationships" id="260" r:id="R9c68f925726447ab"/>
    <p:sldId xmlns:r="http://schemas.openxmlformats.org/officeDocument/2006/relationships" id="261" r:id="R7d5d09fd8ede46a8"/>
    <p:sldId xmlns:r="http://schemas.openxmlformats.org/officeDocument/2006/relationships" id="262" r:id="R28e63f916b284136"/>
    <p:sldId xmlns:r="http://schemas.openxmlformats.org/officeDocument/2006/relationships" id="263" r:id="Rdf74e3dd7a494108"/>
    <p:sldId xmlns:r="http://schemas.openxmlformats.org/officeDocument/2006/relationships" id="264" r:id="R882ffa410f7448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a05059bb44c8d" /><Relationship Type="http://schemas.openxmlformats.org/officeDocument/2006/relationships/theme" Target="/ppt/theme/theme1.xml" Id="R8246044cdcbe4cf7" /><Relationship Type="http://schemas.openxmlformats.org/officeDocument/2006/relationships/notesMaster" Target="/ppt/notesMasters/notesMaster1.xml" Id="Rfea782905081444d" /><Relationship Type="http://schemas.openxmlformats.org/officeDocument/2006/relationships/presProps" Target="/ppt/presProps.xml" Id="Reb955aae0d3748ca" /><Relationship Type="http://schemas.openxmlformats.org/officeDocument/2006/relationships/viewProps" Target="/ppt/viewProps.xml" Id="R4b2a987eb45845ec" /><Relationship Type="http://schemas.openxmlformats.org/officeDocument/2006/relationships/tableStyles" Target="/ppt/tableStyles.xml" Id="R439d4d8952c44313" /><Relationship Type="http://schemas.openxmlformats.org/officeDocument/2006/relationships/slide" Target="/ppt/slides/slide1.xml" Id="Re93a921709f34d1c" /><Relationship Type="http://schemas.openxmlformats.org/officeDocument/2006/relationships/slide" Target="/ppt/slides/slide2.xml" Id="R985a86198a6d407e" /><Relationship Type="http://schemas.openxmlformats.org/officeDocument/2006/relationships/slide" Target="/ppt/slides/slide3.xml" Id="R3e003da9b9524ce9" /><Relationship Type="http://schemas.openxmlformats.org/officeDocument/2006/relationships/slide" Target="/ppt/slides/slide4.xml" Id="Rcc931dac18dc4846" /><Relationship Type="http://schemas.openxmlformats.org/officeDocument/2006/relationships/slide" Target="/ppt/slides/slide5.xml" Id="R9c68f925726447ab" /><Relationship Type="http://schemas.openxmlformats.org/officeDocument/2006/relationships/slide" Target="/ppt/slides/slide6.xml" Id="R7d5d09fd8ede46a8" /><Relationship Type="http://schemas.openxmlformats.org/officeDocument/2006/relationships/slide" Target="/ppt/slides/slide7.xml" Id="R28e63f916b284136" /><Relationship Type="http://schemas.openxmlformats.org/officeDocument/2006/relationships/slide" Target="/ppt/slides/slide8.xml" Id="Rdf74e3dd7a494108" /><Relationship Type="http://schemas.openxmlformats.org/officeDocument/2006/relationships/slide" Target="/ppt/slides/slide9.xml" Id="R882ffa410f7448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97c2fbc014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cbd182ce5843a9" /><Relationship Type="http://schemas.openxmlformats.org/officeDocument/2006/relationships/notesMaster" Target="/ppt/notesMasters/notesMaster1.xml" Id="Raa33e731748645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9a398690c4855" /><Relationship Type="http://schemas.openxmlformats.org/officeDocument/2006/relationships/notesMaster" Target="/ppt/notesMasters/notesMaster1.xml" Id="Rb57b1a06a8c340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d59136ad6a41e8" /><Relationship Type="http://schemas.openxmlformats.org/officeDocument/2006/relationships/notesMaster" Target="/ppt/notesMasters/notesMaster1.xml" Id="Raac7d7dc57164c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5b7c599c904818" /><Relationship Type="http://schemas.openxmlformats.org/officeDocument/2006/relationships/notesMaster" Target="/ppt/notesMasters/notesMaster1.xml" Id="Rb031d91b250841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b962eaa82d4023" /><Relationship Type="http://schemas.openxmlformats.org/officeDocument/2006/relationships/notesMaster" Target="/ppt/notesMasters/notesMaster1.xml" Id="Rdfe95183423540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699a524cee47ce" /><Relationship Type="http://schemas.openxmlformats.org/officeDocument/2006/relationships/notesMaster" Target="/ppt/notesMasters/notesMaster1.xml" Id="R5da21571ab8649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9851ef43f34977" /><Relationship Type="http://schemas.openxmlformats.org/officeDocument/2006/relationships/notesMaster" Target="/ppt/notesMasters/notesMaster1.xml" Id="R6781c5a8f19340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dca31eca444627" /><Relationship Type="http://schemas.openxmlformats.org/officeDocument/2006/relationships/notesMaster" Target="/ppt/notesMasters/notesMaster1.xml" Id="Rd9cfbf2b845d47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f5694c631149ca" /><Relationship Type="http://schemas.openxmlformats.org/officeDocument/2006/relationships/notesMaster" Target="/ppt/notesMasters/notesMaster1.xml" Id="R7780fc64ec1d42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开场先定性。这个项目的价值不在于又做了一个聊天窗口，而在于把 AI 放进真实的学习任务里。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review: README.md, docs/DEPLOY_VERCEL_TURSO.md, src/App.tsx, src/components/ManagementModule.tsx, src/components/ChallengeModule.tsx, server/app.ts, server/db.ts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这页要强调它比纯聊天产品更像业务系统，因此更适合做落地实践推荐。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review: README.md, docs/DEPLOY_VERCEL_TURSO.md, src/App.tsx, src/components/ManagementModule.tsx, src/components/ChallengeModule.tsx, server/app.ts, server/db.ts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这一页从用户视角讲清楚为什么这不是零散功能堆叠，而是一条被编排过的链路。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review: README.md, docs/DEPLOY_VERCEL_TURSO.md, src/App.tsx, src/components/ManagementModule.tsx, src/components/ChallengeModule.tsx, server/app.ts, server/db.ts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结合代码实现讲：对话模型走 OpenAI 兼容接口，TTS 支持模型音频，发音评测走 Azure Speech token 和前端评测流程。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review: README.md, docs/DEPLOY_VERCEL_TURSO.md, src/App.tsx, src/components/ManagementModule.tsx, src/components/ChallengeModule.tsx, server/app.ts, server/db.ts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这页适合面向技术负责人说明：虽然架构不重，但不是临时 demo，具备部署路径。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review: README.md, docs/DEPLOY_VERCEL_TURSO.md, src/App.tsx, src/components/ManagementModule.tsx, src/components/ChallengeModule.tsx, server/app.ts, server/db.ts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这里可以给推荐结论的上半句：它值得推荐，但必须带着成熟度边界一起推荐。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review: README.md, docs/DEPLOY_VERCEL_TURSO.md, src/App.tsx, src/components/ManagementModule.tsx, src/components/ChallengeModule.tsx, server/app.ts, server/db.ts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这页要讲得坦诚。它是 MVP，不是成熟产品。真实可信的推荐需要把这些问题先补上。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review: README.md, docs/DEPLOY_VERCEL_TURSO.md, src/App.tsx, src/components/ManagementModule.tsx, src/components/ChallengeModule.tsx, server/app.ts, server/db.ts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这页要让听众看到增长路径：它不是天花板低，而是现在正处在值得继续投的阶段。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review: README.md, docs/DEPLOY_VERCEL_TURSO.md, src/App.tsx, src/components/ManagementModule.tsx, src/components/ChallengeModule.tsx, server/app.ts, server/db.ts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收尾时可以直接给一句话：它已经足够成为推荐案例，但推荐的是思路与落地能力，不是现阶段就可大规模交付的成品。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review: README.md, docs/DEPLOY_VERCEL_TURSO.md, src/App.tsx, src/components/ManagementModule.tsx, src/components/ChallengeModule.tsx, server/app.ts, server/db.ts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a06522ba849c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ea2581570574401" /><Relationship Type="http://schemas.openxmlformats.org/officeDocument/2006/relationships/slideLayout" Target="/ppt/slideLayouts/slideLayout2.xml" Id="Rdbd8d95b8e1442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d8d95b8e1442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0e3b35ef644536" /><Relationship Type="http://schemas.openxmlformats.org/officeDocument/2006/relationships/image" Target="/ppt/media/image.png" Id="Rcb1fee3681b245a3" /><Relationship Type="http://schemas.openxmlformats.org/officeDocument/2006/relationships/notesSlide" Target="/ppt/notesSlides/notesSlide1.xml" Id="R24c9f79401d2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71f40be50f46c6" /><Relationship Type="http://schemas.openxmlformats.org/officeDocument/2006/relationships/image" Target="/ppt/media/image2.png" Id="R1d7b76323c1e49b7" /><Relationship Type="http://schemas.openxmlformats.org/officeDocument/2006/relationships/notesSlide" Target="/ppt/notesSlides/notesSlide2.xml" Id="R63fe608889f64e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c4fd60c7604229" /><Relationship Type="http://schemas.openxmlformats.org/officeDocument/2006/relationships/image" Target="/ppt/media/image3.png" Id="R8b504fe59a504ef7" /><Relationship Type="http://schemas.openxmlformats.org/officeDocument/2006/relationships/notesSlide" Target="/ppt/notesSlides/notesSlide3.xml" Id="R5a6b21b375854f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fccbf8af04165" /><Relationship Type="http://schemas.openxmlformats.org/officeDocument/2006/relationships/image" Target="/ppt/media/image4.png" Id="R9b40d000640244dd" /><Relationship Type="http://schemas.openxmlformats.org/officeDocument/2006/relationships/notesSlide" Target="/ppt/notesSlides/notesSlide4.xml" Id="R8e8876302d0642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a1d0bc58974aa8" /><Relationship Type="http://schemas.openxmlformats.org/officeDocument/2006/relationships/image" Target="/ppt/media/image5.png" Id="R3fc1191cbfca4bd6" /><Relationship Type="http://schemas.openxmlformats.org/officeDocument/2006/relationships/notesSlide" Target="/ppt/notesSlides/notesSlide5.xml" Id="Ra2c54ccea6b547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eb607e5f0b490f" /><Relationship Type="http://schemas.openxmlformats.org/officeDocument/2006/relationships/image" Target="/ppt/media/image6.png" Id="R8b453d2cb69849de" /><Relationship Type="http://schemas.openxmlformats.org/officeDocument/2006/relationships/notesSlide" Target="/ppt/notesSlides/notesSlide6.xml" Id="Ra730db5ebc3a43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ee17577e984fb2" /><Relationship Type="http://schemas.openxmlformats.org/officeDocument/2006/relationships/image" Target="/ppt/media/image7.png" Id="R6cedebfe8f144df2" /><Relationship Type="http://schemas.openxmlformats.org/officeDocument/2006/relationships/notesSlide" Target="/ppt/notesSlides/notesSlide7.xml" Id="R29dce9ac71204c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9c540a72c14815" /><Relationship Type="http://schemas.openxmlformats.org/officeDocument/2006/relationships/image" Target="/ppt/media/image8.png" Id="Re9e75442ebb44b63" /><Relationship Type="http://schemas.openxmlformats.org/officeDocument/2006/relationships/notesSlide" Target="/ppt/notesSlides/notesSlide8.xml" Id="R69f800e7033644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427e8394dd40f7" /><Relationship Type="http://schemas.openxmlformats.org/officeDocument/2006/relationships/image" Target="/ppt/media/image9.png" Id="R837f72ed0ae54a43" /><Relationship Type="http://schemas.openxmlformats.org/officeDocument/2006/relationships/notesSlide" Target="/ppt/notesSlides/notesSlide9.xml" Id="Re55d6ef5b4a944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fee3681b245a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4B291-699B-44AA-841B-3F1DC2CE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9FF56-9499-40D4-B902-03A6DA22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51BA8-07DC-4E60-8AFC-F0FF275C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AI Education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B67E1-ED10-477F-9644-D2E13A6E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81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English Assist</a:t>
            </a:r>
          </a:p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不是聊天 Demo，而是教学流程里的 AI 应用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FFBE0-3485-4B93-9927-345EE1F0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609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一个面向初高中英语听口训练的垂直场景产品原型，把教材同步、语音评测、AI 对话和教师管理放进同一条学习闭环。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F7A06-8102-41B5-8237-27FF52FD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4495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23D08-4D9B-4532-976C-DC2384D5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适合做 AI agent 落地实践案例，但还需要补齐安全、数据与评测可信度。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8385C-3820-4E4A-ACC4-BEB39BCE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Repository-derived content. All visible copy remains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746095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b76323c1e49b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E6C03-00D1-4DF3-B54A-6D4EE21A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01357-79E8-46FD-8FD4-92B786FA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A08B7-0EF2-4FD6-B32F-73E51531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02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3D7C7-4959-44D0-8C92-4ABA6C51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9498C-8579-41C5-8CF3-663C5080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9561C-D4DA-4898-BD36-BD2C6521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为什么它值得被拿出来讲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AB19A-B9A0-47D0-9E5A-4205F300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相比通用助手，这个应用更能说明 AI 如何进入一条明确业务流程。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F3E7C-6292-497D-952A-61EAC0C1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AB091-8B24-4EFC-ABD3-F8325693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D83F8-C6CC-4532-A136-1B70C454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B2F92-5D71-4ACD-A0D5-1B449B63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68A45-F62A-4B87-A59F-3BCF7DC5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AD499-C4FA-404C-8ADE-F310E013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6EE72-879A-479F-9984-4B9798B4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场景清晰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3BE25-C138-4D2B-AD6D-8E0F8E72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目标用户是初高中英语学习场景。教材、单元、练习、复盘、教师管理都已经有明确边界，不是泛化空转。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D02BF-22A8-4EC9-964D-0E05A39B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20D35-129B-4B95-9A16-3ABAB08D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BB50D-3A51-4F07-8E3C-8784EC9D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FC64B-7EA5-4363-A528-104025D4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608EE-8F1E-46DB-A6C8-CCF36C23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9AF9F-490F-48E7-96A9-F27253A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A7538-2033-4A03-B871-4A1FA37C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闭环完整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25650-03AE-4A1D-B068-4C3BAC6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学生完成词汇预习、重点句跟读、语法练习、听写训练、口语评测，再回到教师侧观察，形成完整闭环。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80EFCA-B393-46FB-905C-07EC3A32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FCFB5-71BE-45F0-954B-6ACB376A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919938-2295-4B1F-A6BB-BAC178D5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CEB32-DA69-4298-8762-EE695C44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7C27E4-F9DD-477B-BA55-AD680B19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9EBD17-9268-4AFB-80EA-03E03776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D61900-44FD-4489-9C00-F4494687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易于复用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CE426-95AA-4DB0-BA87-26A284A2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React + Express +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libSQL/Turso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的组合足够轻，既能本地演示，也能部署到云端，适合作为落地样板。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C4A440-5D4C-4F3E-AA12-ABAEF557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Repository-derived content. All visible copy remains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1125703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04fe59a504ef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3DEC3-0FBE-4F64-AA25-9A308298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E4A71-3CC2-404B-B1AF-2BB33092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PRODUCT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0B256-6133-4DC8-B10D-613AE6AC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03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AE4FB-B620-4584-8C3B-1CE75385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CE4AB-D7D4-4DC9-B41B-D3D65046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E6BB7-BB6A-4CA4-B246-451639DF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产品主链路已经成形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9FBD5-C5CD-4B39-84C9-AD656813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它把一节英语学习课拆成可执行、可记录、可反馈的多个任务节点。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2FF99-0606-4D65-826F-C6B390E6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1A58F-0040-4C9C-AF2D-36B7036D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2A365-9680-4828-BAD1-A821929D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78A8B-C2E3-4C8C-9C9D-8A4EC459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289F5-5731-4AF8-819B-E8D63C94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240C8-2CCB-4324-BA6C-17626DD7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94B82-5BAE-4600-B66F-5CCB6ACC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学生入口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20A48-3FFC-4D10-A706-5E98679C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从教材单元进入，先做词汇预习与重点句浏览，再进入语法、听写和朗读评测，不需要自己拼学习路径。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D6CD9-B51E-4E7B-AF52-6393A733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42FA6-A6C2-49DB-83FE-407DE4D2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D3759-FDAB-4557-9063-887B1905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CC773-B8E4-43B7-9BD1-DD24A721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396B6-963F-4236-A64F-C80D4D9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C7D35-02CD-437E-825D-30BAB56A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8AF64-427B-4552-B7E0-072B5B2C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AI 参与点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BD828-2147-4B0D-ADB1-6FFFE09B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AI 对话负责口语陪练，TTS 负责发音播放，Azure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Speech 负责口语识别与发音评分，系统再产出纠错反馈。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58B2C-C61C-4ED9-8008-37E3B579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DBC0C5-A3D1-4386-AAAB-D80B5CCE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B988C-B7B1-41BC-8D71-1D14E8B6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AD74C-59FD-4B71-8D72-BE9A9EF9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993E4-C05E-473A-959A-71D71F12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66669A-83FB-4290-8351-3DFAAB7D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302AF-FC06-40E7-9AC4-E94660B4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教师入口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73E941-4D85-43B6-AF04-18FD5384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管理端可以看教材导入、学生列表、班级趋势、风险学生与学习活跃度，具备教学运营视角的雏形。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A85CC4-D06D-4F70-8405-4EDD46A9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Repository-derived content. All visible copy remains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510414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0d000640244d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E7EB3-8156-45A7-987A-0DA0E33E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D2A51-7F0C-4C54-9339-24791C25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AI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BBE9D-B03E-4534-9B11-9DB76E6E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04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7F6EA-1D62-41CE-8715-D67D3DEA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0BB8F-AAF9-482A-A051-53CDEA47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C597D-A1C9-4B2A-8A46-18AB62BA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当前 AI 实践已经覆盖三类能力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57EE8-A74C-4B06-849C-FDAA6836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这个项目不是单模型调用，而是把多个 AI 能力映射到了不同学习任务。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7C6BF-E4F2-471E-806B-3DFDD72B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7C146-58D5-41B6-BE67-3A68D1ED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5AEB9-5DA5-4DE5-997C-1C086C9F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F1153-4DEA-4BEC-B3A4-6DCF5852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AI 能力层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73A9A-9FD8-4F52-B96E-8621D9BB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对话生成 / 语音合成 / 语音评测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AEA35-D12C-432E-ACF5-71A61315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A51D9-66E2-48B5-93E1-8FEC3069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E84854-3D38-4899-AAD8-3814E446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AD80A-61B1-4D0D-AE75-2B85683B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学习环节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B9A05-79DD-462D-BA67-4787799D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预习、重点句、语法、听写、口语评测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EBFE4-6D17-4743-B859-6E9C3BA7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5B9EF-8E12-4F89-A753-FFA64E34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0D245-ED8A-4F3D-8E56-139D7E56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1E2813-7857-4A26-9D22-5503DFB3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核心价值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5EB19C-57A6-466F-BEC1-7E3D7FBF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把 AI 放进教学流程而不是悬浮功能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3CEE1-D42D-4024-B3DF-DBAFA801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Repository-derived content. All visible copy remains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2038782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1191cbfca4bd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C9923-81A3-4B2F-9C8A-1AEC0F1C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6A879-F6D7-42AD-ADD6-82838FAC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833CF-440E-4675-8510-1D636524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05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91938-6296-4B2B-9C6D-FA4BD475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711CC-2132-427E-8B8B-4DBE39D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03EDF-0972-4BC6-9051-D9FBBC9F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工程架构足够轻，但已经具备部署与扩展基础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3D15E-197F-4FDA-A771-1C256EC0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前后端分工明确，数据库和部署路径也已经被打通。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71045-897E-41BA-A2EE-EEF58BEA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DFAF6-A436-4774-B8EF-8680B7F3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27B5F-1213-425C-92AD-FA8710D7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293E7-40CD-4B45-80E6-AD5059F7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07867-57B3-4BAA-9338-CF4C0B05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D89D12-C34C-4934-81BE-DAAF69BC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1AA73-D97C-4BA1-96AC-12EDD85B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前端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0B63D-01B7-4890-A1DB-03CF2645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Vite + React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构建学生端与教师端体验，教材学习、语音交互和统计面板都在同一个应用中交付。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2BC08-7305-4E8B-8FCF-6D32FCBB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6B41F-E0D8-496E-8C28-ACCD9EE9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C7C4F-0F23-4951-83F2-093BC416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DFDCAC-4260-424C-8DD9-A2FC5F3F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BBA06A-4013-4739-87E3-2488AB36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64AC9-DD1F-4DA0-92FA-ABD44076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39BB3-AC53-4374-B807-75D018BF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后端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248DB-4A0B-4114-B029-CC97D893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Express 暴露登录、教材、管理和 speech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token 接口，Turso/libSQL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负责用户、会话与教材结构数据。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2A8FD1-4CC4-405C-8896-D4936916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48B3D-F8B6-44A4-B709-84BA8BAD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4B10B-D879-486C-9540-84A04916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7EB02A-794B-4A77-BAFC-CE313546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0F93F-E43A-453D-AC73-27619490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25C05B-71B6-4F83-B713-98759E36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2D175-0541-4506-991C-683EE919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部署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FA264E-EC2B-41E0-BB16-DE72A5F4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本地可跑 file 模式数据库，线上可切到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Turso，再通过 Vercel Functions 提供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API，适合低成本试点。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9EC93C-FC5C-4F59-9C80-643AF77A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Repository-derived content. All visible copy remains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55385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53d2cb69849d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05CD1-3598-4BDE-85B1-7BAE398E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D6234-AB55-4CCF-8778-B4C80E8C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BF48A-632A-420C-8EB2-9C740C5C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06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B54F5-061D-4CE2-A5B7-35FE37AA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E7862-EC28-4891-8C78-7FC9732B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E0723-DA4B-46CD-83E3-BB10AFC6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它已经具备被推荐的几个关键理由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B9554-B550-4943-9474-0642F73C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如果对外定位准确，它是一份很好的垂直 AI 应用示范。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7EA4-98FB-4A34-9EEC-BAF79895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31907-65BA-4EA1-A495-7364168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84DC6-0C05-4638-9638-3F406F05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DBB55-64AD-4BDC-A825-148AB1A6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720DF-BACD-4B4D-8F56-C110ADC4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B0AE2-5E1E-4F7E-A96C-CF35D98D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B9E81-D0E0-4191-B968-4D0B5090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不是伪需求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C9345-EFD7-4B41-8C7C-2D0A4503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英语听口训练是明确高频场景，AI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的口语陪练、发音评测和复盘建议都有天然价值。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04FC4-74C4-4A1E-89B2-137CD00A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0E56E-C11E-498B-B35C-A8DC2A10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C85AB-8A59-4C33-9F7D-BBAB34F5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F75F9-B57B-45B9-9EA0-DE67B06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3ACE0-B21C-42A3-B9A4-5F969D13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E2184-33E1-483F-BF17-0ECDFF20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5AE30-758A-4ADC-A151-853DCC55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不是伪集成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580C5-9B78-4031-BBD0-41BC83A6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AI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能力直接作用在教学任务上，而不是在页面侧边放一个聊天框假装智能化。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4EACF-BD16-40AB-97F8-068612E9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FB8A3C-1956-43F1-97B9-57C4A31D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814F7-E34F-4B6D-851E-1B4937ED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9A7A4-9009-48BB-BD79-BECC520A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8D9DC-6AE7-4192-81E6-29398834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C48094-63FB-4755-BDD7-56D06F25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0E40A3-A6E4-4E42-98C5-C510C123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不是伪落地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C7C5A-59E0-4ED3-A52B-5DD9C25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从教材内容、账户权限、管理页到云部署都已存在，已经比概念验证更进一步。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6471D5-8F26-48AD-B065-59B2C27D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Repository-derived content. All visible copy remains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1079418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debfe8f144df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500AA-E061-4937-826E-D0F43A27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E113C-17CB-47B8-B858-D23D1D8E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GAPS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E77F0-C38C-4AF2-856F-CCC9B39C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07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269EF-E43B-4B0B-A067-E230AF79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F01CB-ACE3-4565-8383-B179923F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7BDB2-69BF-4C71-BC37-C3AB6C39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如果要面向别人推荐，当前最大的短板是什么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B8B15-4775-4BA0-9CE9-C0D3BA7C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这些问题不会影响演示，但会影响真实交付和产品可信度。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E2D58-2EAC-4C10-9448-4AA3AA2A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E247F-B040-4B8D-910D-1A5F9A27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5CDC6-4ADB-464A-A55D-EC6D2C73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D1E2D-B965-407B-A3BE-B82582E4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8D0DC-2EFC-4847-9072-9817A6F6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7EDE0-18CF-4A4E-B45C-402A76AE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E04C6-FD49-40A5-9E7E-F314D728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安全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2393D-9E02-4D5B-A5A3-3E88CF6E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默认管理员口令写在代码里，AI Key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保存在浏览器本地且由前端直连模型服务，这不适合真实机构环境。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7E269-A36A-470F-B0CF-07D349AD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5B8EB-8B5C-420A-B5F9-67AEF9A2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4EAA1-1306-4253-B2EA-B0E4FFE1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6228D-4BF8-44F7-B92C-1FE37B0C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48797-AFC7-4335-8DAB-FF9C7ACF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8438C-CEFB-4F0C-AC82-E7690DFB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BE811-6FCD-4456-9054-F1CBCF90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6BD5C-629A-4C4C-8184-E7826078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学习记录主要保存在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localStorage，教师视角读取的也是本地快照，不是服务端统一学习档案。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5E69A-9C59-43CD-B8C9-20B79095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9ABC2-E875-4613-AE8E-B056445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078B92-FDCD-40D7-9523-7FA5F66E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431D06-33D9-43E2-96C6-B0C877B2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10BD8-D3A6-4BF6-A648-6DB1BA30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1CB19-1249-467B-B8A8-6A05D3BC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385BCB-97B8-4FA3-809B-2D3CDD6B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评测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8343BB-78F8-4DBC-87FA-6C7D8F7B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闯关得分目前按是否填写内容计分，说明成果展示还强于真实评测可信度，需要尽快补齐。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DA827F-0AE9-466E-A077-497D7701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Repository-derived content. All visible copy remains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504177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75442ebb44b6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203BD-A8A4-4078-9A87-3967040F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BA897-D4A3-4951-8B38-B4C863D2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97C7F-E973-4460-825A-C8AEAD6F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08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3AC23-A2F3-48D8-8A69-3629176A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B6625-324B-4409-BD6F-B153DB41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52969-DD3A-4CF2-8AB0-261D04DF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把它升级为可规模化方案的增强路线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9FED8-BE83-444F-9954-391250D2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建议分三步：先补底座，再做 AI 深化，最后建立可复制方法论。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61A7E-D81B-436F-BACA-C1E11D68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E0A48-B6C5-480C-8504-4EE5CE1A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395A4-B9C7-4B61-9B79-8C5031E7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45FF7-D8D3-40E0-B5B7-4BC9CC77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B3F9C-7488-4483-9FA3-D0EC0636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C053D-4977-44E6-A099-5DE2A986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71157-2169-4F74-9555-14A49901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阶段一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27214-FE56-426E-B564-42D89C18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服务端代理 AI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调用、移除默认口令、把学习记录迁移到数据库、增加限流与审计，让它先变成可交付的基础版。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1E795-FD0B-4814-A4EA-F721BB3A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8B174-896C-4F77-8256-E74876D3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13D6A-A1C5-43A0-BBB5-B63BD62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7756F-46C6-4646-AC93-16E3CFC2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958D5-D510-4271-B7F9-F2068B7D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9A31F-DAB3-4287-8C62-D41831A8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E793E-E602-4B9B-B255-2864C64A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阶段二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16DA1-5136-4E6E-8E51-B859FE67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重做闯关评分、个性化学习计划、教师洞察和内容工作流，把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AI 从功能点升级为真正的教学编排能力。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40328E-E420-494D-BAD2-C87ACD51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C3C97F-BB92-4BB9-8FF8-4D7FC59C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7847FE-D2AF-42D2-83E6-28AADEC5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E7D907-29C1-477E-BD7D-BFE9E0F9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030E2A-1C41-4BE9-A8A0-7F3490A3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B4023-E854-43E2-A461-300909A7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35246-57E6-455D-9A4E-1E77BC58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阶段三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3852D5-B8D7-4661-8F88-6D689081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沉淀指标、案例素材、决策日志和 ROI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  <a:latin typeface="Lato"/>
                <a:ea typeface="Lato"/>
                <a:cs typeface="Lato"/>
              </a:rPr>
              <a:t>叙事，把它包装成可对外复制的 AI agent 落地案例。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779F2-0ACA-408A-B62E-5C5089C9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Repository-derived content. All visible copy remains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12263206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f72ed0ae54a4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850B3-8FD4-4797-9074-72C2EBCD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4C704-20A9-4C69-9CCD-946F8CB7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A2DD4-CEE4-43EF-AA21-2D547DAB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  <a:latin typeface="Aptos Mono"/>
                <a:ea typeface="Aptos Mono"/>
                <a:cs typeface="Aptos Mono"/>
              </a:rPr>
              <a:t>09 /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D3DA2-B886-4521-9CEF-924D1A7D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420FB-6D2D-4EE9-81C9-65D6D596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BD733-C216-47F5-9464-CDB3774A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最终判断：可以推荐，但应定位为“强场景 MVP”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38A4E-B64F-4437-B020-82564465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  <a:latin typeface="Lato"/>
                <a:ea typeface="Lato"/>
                <a:cs typeface="Lato"/>
              </a:rPr>
              <a:t>最好的推荐方式不是夸成成熟产品，而是把它定义为一条很扎实的 AI 教育应用演进路线。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D15F7-8930-4173-8938-B90EE793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A0CB7-1243-4A13-8234-0158F854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E2CE6-42F8-424A-94D4-5751D39A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Yes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CF6DA-305E-4256-B332-CB199140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适合展示 AI 落地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84F0A-AB02-4059-8859-19A6C29E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因业务链路完整且场景具体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C0E50-AB97-4DFD-AA4A-347C1D78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C5A0E-C987-459C-AAAB-017EC5A7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725FE-0332-41D2-91B1-2896AD1D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11113-1F51-48CC-9738-7BB1A2A4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当前成熟度判断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C4681-111C-42B9-AA69-02A344B3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更像强演示、试点与方法论样板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EB753-06B6-4F63-875C-C6BDD6A1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B739A-4B08-4A63-B5CA-D2014F4E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2A4BF-A679-44BE-89FC-F0881105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  <a:latin typeface="Caladea"/>
                <a:ea typeface="Caladea"/>
                <a:cs typeface="Caladea"/>
              </a:rP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B3D4A-C3EB-4065-8620-1278D6F6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  <a:latin typeface="Lato"/>
                <a:ea typeface="Lato"/>
                <a:cs typeface="Lato"/>
              </a:rPr>
              <a:t>下一步重点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6137F-2A21-4BCD-916E-E96FEFA5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安全、数据、评测可信度、运营能力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56B1F-31BB-4742-B08A-1089B7AF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  <a:latin typeface="Lato"/>
                <a:ea typeface="Lato"/>
                <a:cs typeface="Lato"/>
              </a:rPr>
              <a:t>Repository-derived content. All visible copy remains editable in PowerPoint.</a:t>
            </a:r>
          </a:p>
        </p:txBody>
      </p:sp>
    </p:spTree>
    <p:extLst>
      <p:ext uri="{BB962C8B-B14F-4D97-AF65-F5344CB8AC3E}">
        <p14:creationId xmlns:p14="http://schemas.microsoft.com/office/powerpoint/2010/main" val="1143798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2026-05-15T05:08:44.3150000Z</dcterms:created>
  <dcterms:modified xsi:type="dcterms:W3CDTF">2026-05-15T05:08:44.3150000Z</dcterms:modified>
</coreProperties>
</file>